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33975" y="1645920"/>
            <a:ext cx="2523744" cy="32004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888888"/>
                </a:solidFill>
                <a:latin typeface="JetBrains Mono"/>
              </a:defRPr>
            </a:pPr>
            <a:r>
              <a:t>2026 / Design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E0E0E0"/>
                </a:solidFill>
                <a:latin typeface="Inter"/>
              </a:defRPr>
            </a:pPr>
            <a:r>
              <a:t>Code-Driven</a:t>
            </a:r>
            <a:br/>
            <a:r>
              <a:t>UX/UI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29768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888888"/>
                </a:solidFill>
                <a:latin typeface="Inter"/>
              </a:defRPr>
            </a:pPr>
            <a:r>
              <a:t>用 Claude Code 重新定義設計工作流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5730087" y="5029200"/>
            <a:ext cx="731520" cy="254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548640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555"/>
                </a:solidFill>
                <a:latin typeface="Inter"/>
              </a:defRPr>
            </a:pPr>
            <a:r>
              <a:t>YOUR NAME / YOUR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365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JetBrains Mono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JetBrains Mono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554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AFAFA"/>
                </a:solidFill>
                <a:latin typeface="Inter"/>
              </a:defRPr>
            </a:pPr>
            <a:r>
              <a:t>Today</a:t>
            </a:r>
          </a:p>
        </p:txBody>
      </p:sp>
      <p:sp>
        <p:nvSpPr>
          <p:cNvPr id="4" name="Oval 3"/>
          <p:cNvSpPr/>
          <p:nvPr/>
        </p:nvSpPr>
        <p:spPr>
          <a:xfrm>
            <a:off x="1463040" y="2816352"/>
            <a:ext cx="76200" cy="76200"/>
          </a:xfrm>
          <a:prstGeom prst="ellipse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88888"/>
                </a:solidFill>
                <a:latin typeface="Inter"/>
              </a:defRPr>
            </a:pPr>
            <a:r>
              <a:t>Why Code × Design?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154680"/>
            <a:ext cx="73152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63040" y="3410712"/>
            <a:ext cx="76200" cy="76200"/>
          </a:xfrm>
          <a:prstGeom prst="ellipse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246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88888"/>
                </a:solidFill>
                <a:latin typeface="Inter"/>
              </a:defRPr>
            </a:pPr>
            <a:r>
              <a:t>工作流程 — 從 Prompt 到 Production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749040"/>
            <a:ext cx="73152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63040" y="4005072"/>
            <a:ext cx="76200" cy="76200"/>
          </a:xfrm>
          <a:prstGeom prst="ellipse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3840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88888"/>
                </a:solidFill>
                <a:latin typeface="Inter"/>
              </a:defRPr>
            </a:pPr>
            <a:r>
              <a:t>Live Demo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343400"/>
            <a:ext cx="73152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63040" y="4599432"/>
            <a:ext cx="76200" cy="76200"/>
          </a:xfrm>
          <a:prstGeom prst="ellipse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4434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88888"/>
                </a:solidFill>
                <a:latin typeface="Inter"/>
              </a:defRPr>
            </a:pPr>
            <a:r>
              <a:t>設計品質 vs 開發速度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4937760"/>
            <a:ext cx="73152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63040" y="5193792"/>
            <a:ext cx="76200" cy="76200"/>
          </a:xfrm>
          <a:prstGeom prst="ellipse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5029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88888"/>
                </a:solidFill>
                <a:latin typeface="Inter"/>
              </a:defRPr>
            </a:pPr>
            <a:r>
              <a:t>Takeaways &amp; Q&amp;A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5532120"/>
            <a:ext cx="73152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94415" y="365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JetBrains Mono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67047" y="731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JetBrains Mono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AFAFA"/>
                </a:solidFill>
                <a:latin typeface="Inter"/>
              </a:defRPr>
            </a:pPr>
            <a:r>
              <a:t>設計與開發之間</a:t>
            </a:r>
            <a:br/>
            <a:r>
              <a:t>永遠存在鴻溝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32407" y="2377440"/>
            <a:ext cx="2926080" cy="22860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06727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55555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6727" y="3108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AFAFA"/>
                </a:solidFill>
                <a:latin typeface="Inter"/>
              </a:defRPr>
            </a:pPr>
            <a:r>
              <a:t>設計稿 ≠ 成品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6727" y="35661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88888"/>
                </a:solidFill>
                <a:latin typeface="Inter"/>
              </a:defRPr>
            </a:pPr>
            <a:r>
              <a:t>Figma 上的完美，到了 Code 總是走樣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2807" y="2377440"/>
            <a:ext cx="2926080" cy="22860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7127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55555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07127" y="3108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AFAFA"/>
                </a:solidFill>
                <a:latin typeface="Inter"/>
              </a:defRPr>
            </a:pPr>
            <a:r>
              <a:t>來回溝通成本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7127" y="35661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88888"/>
                </a:solidFill>
                <a:latin typeface="Inter"/>
              </a:defRPr>
            </a:pPr>
            <a:r>
              <a:t>設計師與工程師的迭代循環耗時費力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33207" y="2377440"/>
            <a:ext cx="2926080" cy="22860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07527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55555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7527" y="3108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AFAFA"/>
                </a:solidFill>
                <a:latin typeface="Inter"/>
              </a:defRPr>
            </a:pPr>
            <a:r>
              <a:t>細節遺失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7527" y="35661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88888"/>
                </a:solidFill>
                <a:latin typeface="Inter"/>
              </a:defRPr>
            </a:pPr>
            <a:r>
              <a:t>動效、間距、互動細節在交接中流失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365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JetBrains Mono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67047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JetBrains Mono"/>
              </a:defRPr>
            </a:pPr>
            <a:r>
              <a:t>THE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AFAFA"/>
                </a:solidFill>
                <a:latin typeface="Inter"/>
              </a:defRPr>
            </a:pPr>
            <a:r>
              <a:t>直接用 Code 做設計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46888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88888"/>
                </a:solidFill>
                <a:latin typeface="Inter"/>
              </a:defRPr>
            </a:pPr>
            <a:r>
              <a:t>透過 AI-assisted coding，讓設計決策直接在程式碼中實現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3847" y="3291840"/>
            <a:ext cx="1463040" cy="10972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15287" y="3429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AFAFA"/>
                </a:solidFill>
                <a:latin typeface="Inter"/>
              </a:defRPr>
            </a:pPr>
            <a:r>
              <a:t>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5287" y="37947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55555"/>
                </a:solidFill>
                <a:latin typeface="Inter"/>
              </a:defRPr>
            </a:pPr>
            <a:r>
              <a:t>描述意圖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2607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55555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4087" y="3291840"/>
            <a:ext cx="1463040" cy="10972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5527" y="3429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AFAFA"/>
                </a:solidFill>
                <a:latin typeface="Inter"/>
              </a:defRPr>
            </a:pPr>
            <a:r>
              <a:t>Generate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5527" y="37947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55555"/>
                </a:solidFill>
                <a:latin typeface="Inter"/>
              </a:defRPr>
            </a:pPr>
            <a:r>
              <a:t>AI 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2847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55555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64327" y="3291840"/>
            <a:ext cx="1463040" cy="10972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5767" y="3429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AFAFA"/>
                </a:solidFill>
                <a:latin typeface="Inter"/>
              </a:defRPr>
            </a:pPr>
            <a:r>
              <a:t>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5767" y="37947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55555"/>
                </a:solidFill>
                <a:latin typeface="Inter"/>
              </a:defRPr>
            </a:pPr>
            <a:r>
              <a:t>即時預覽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3087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55555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84567" y="3291840"/>
            <a:ext cx="1463040" cy="10972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6007" y="3429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AFAFA"/>
                </a:solidFill>
                <a:latin typeface="Inter"/>
              </a:defRPr>
            </a:pPr>
            <a:r>
              <a:t>Iterate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6007" y="37947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55555"/>
                </a:solidFill>
                <a:latin typeface="Inter"/>
              </a:defRPr>
            </a:pPr>
            <a:r>
              <a:t>快速迭代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93327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55555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04807" y="3291840"/>
            <a:ext cx="1463040" cy="10972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6247" y="3429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AFAFA"/>
                </a:solidFill>
                <a:latin typeface="Inter"/>
              </a:defRPr>
            </a:pPr>
            <a:r>
              <a:t>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6247" y="37947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55555"/>
                </a:solidFill>
                <a:latin typeface="Inter"/>
              </a:defRPr>
            </a:pPr>
            <a:r>
              <a:t>直接上線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365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JetBrains Mono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67047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JetBrains Mono"/>
              </a:defRPr>
            </a:pPr>
            <a: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AFAFA"/>
                </a:solidFill>
                <a:latin typeface="Inter"/>
              </a:defRPr>
            </a:pPr>
            <a:r>
              <a:t>數字會說話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047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E0E0E0"/>
                </a:solidFill>
                <a:latin typeface="Inter"/>
              </a:defRPr>
            </a:pPr>
            <a:r>
              <a:t>10x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047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88888"/>
                </a:solidFill>
                <a:latin typeface="Inter"/>
              </a:defRPr>
            </a:pPr>
            <a:r>
              <a:t>原型產出速度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4247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E0E0E0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4247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88888"/>
                </a:solidFill>
                <a:latin typeface="Inter"/>
              </a:defRPr>
            </a:pPr>
            <a:r>
              <a:t>設計交接落差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7447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E0E0E0"/>
                </a:solidFill>
                <a:latin typeface="Inter"/>
              </a:defRPr>
            </a:pPr>
            <a: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7447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88888"/>
                </a:solidFill>
                <a:latin typeface="Inter"/>
              </a:defRPr>
            </a:pPr>
            <a:r>
              <a:t>所見即所得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365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JetBrains Mono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67047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JetBrains Mono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AFAFA"/>
                </a:solidFill>
                <a:latin typeface="Inter"/>
              </a:defRPr>
            </a:pPr>
            <a:r>
              <a:t>Let's 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8247" y="2926080"/>
            <a:ext cx="7315200" cy="3200400"/>
          </a:xfrm>
          <a:prstGeom prst="roundRect">
            <a:avLst>
              <a:gd name="adj" fmla="val 3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04007" y="3200400"/>
            <a:ext cx="6583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88888"/>
                </a:solidFill>
                <a:latin typeface="JetBrains Mono"/>
              </a:defRPr>
            </a:pPr>
            <a:r>
              <a:t>$</a:t>
            </a:r>
            <a:br/>
            <a:r>
              <a:t> claude</a:t>
            </a:r>
            <a:br/>
            <a:br/>
            <a:r>
              <a:t>// Prompt:</a:t>
            </a:r>
            <a:br/>
            <a:r>
              <a:t>"幫我設計一個深色主題的 Dashboard，</a:t>
            </a:r>
            <a:br/>
            <a:r>
              <a:t> 左側 sidebar，頂部 stat cards，</a:t>
            </a:r>
            <a:br/>
            <a:r>
              <a:t> 主區域放一個資料表格，</a:t>
            </a:r>
            <a:br/>
            <a:r>
              <a:t> 風格要 glassmorphism。"</a:t>
            </a:r>
            <a:br/>
            <a:br/>
            <a:r>
              <a:t>// Claude Code generates...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365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JetBrains Mono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JetBrains Mono"/>
              </a:defRPr>
            </a:pPr>
            <a: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AFAFA"/>
                </a:solidFill>
                <a:latin typeface="Inter"/>
              </a:defRPr>
            </a:pPr>
            <a:r>
              <a:t>我的設計工作流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103120"/>
            <a:ext cx="8229600" cy="100584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286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555555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240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AFAFA"/>
                </a:solidFill>
                <a:latin typeface="Inter"/>
              </a:defRPr>
            </a:pPr>
            <a:r>
              <a:t>構思 &amp;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606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88888"/>
                </a:solidFill>
                <a:latin typeface="Inter"/>
              </a:defRPr>
            </a:pPr>
            <a:r>
              <a:t>用自然語言描述設計需求，包含風格、佈局、互動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246120"/>
            <a:ext cx="8229600" cy="100584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429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555555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383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AFAFA"/>
                </a:solidFill>
                <a:latin typeface="Inter"/>
              </a:defRPr>
            </a:pPr>
            <a:r>
              <a:t>即時生成 &amp; 預覽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749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88888"/>
                </a:solidFill>
                <a:latin typeface="Inter"/>
              </a:defRPr>
            </a:pPr>
            <a:r>
              <a:t>Claude Code 產出完整的 HTML/CSS/JS，瀏覽器即時預覽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389120"/>
            <a:ext cx="8229600" cy="100584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4572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555555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526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AFAFA"/>
                </a:solidFill>
                <a:latin typeface="Inter"/>
              </a:defRPr>
            </a:pPr>
            <a:r>
              <a:t>對話式迭代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892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88888"/>
                </a:solidFill>
                <a:latin typeface="Inter"/>
              </a:defRPr>
            </a:pPr>
            <a:r>
              <a:t>「間距再大一點」「換成圓角」— 用對話微調每個細節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532120"/>
            <a:ext cx="8229600" cy="100584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5715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555555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669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AFAFA"/>
                </a:solidFill>
                <a:latin typeface="Inter"/>
              </a:defRPr>
            </a:pPr>
            <a:r>
              <a:t>Production 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6035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88888"/>
                </a:solidFill>
                <a:latin typeface="Inter"/>
              </a:defRPr>
            </a:pPr>
            <a:r>
              <a:t>產出的 Code 直接可以整合進專案，無需額外開發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365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JetBrains Mono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81447" y="1828800"/>
            <a:ext cx="1828800" cy="32004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888888"/>
                </a:solidFill>
                <a:latin typeface="JetBrains Mono"/>
              </a:defRPr>
            </a:pPr>
            <a:r>
              <a:t>Philosophy</a:t>
            </a:r>
          </a:p>
        </p:txBody>
      </p:sp>
      <p:sp>
        <p:nvSpPr>
          <p:cNvPr id="3" name="Rectangle 2"/>
          <p:cNvSpPr/>
          <p:nvPr/>
        </p:nvSpPr>
        <p:spPr>
          <a:xfrm>
            <a:off x="5730087" y="2377440"/>
            <a:ext cx="731520" cy="254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8534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888888"/>
                </a:solidFill>
                <a:latin typeface="Inter"/>
              </a:defRPr>
            </a:pPr>
            <a:r>
              <a:t>"The best design tool is the one</a:t>
            </a:r>
            <a:br/>
            <a:r>
              <a:t>that speaks the same language</a:t>
            </a:r>
            <a:br/>
            <a:r>
              <a:t>as your product."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93776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555"/>
                </a:solidFill>
                <a:latin typeface="Inter"/>
              </a:defRPr>
            </a:pPr>
            <a:r>
              <a:t>— Code-Driven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365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JetBrains Mono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67047" y="731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JetBrains Mono"/>
              </a:defRPr>
            </a:pPr>
            <a: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AFAFA"/>
                </a:solidFill>
                <a:latin typeface="Inter"/>
              </a:defRPr>
            </a:pPr>
            <a:r>
              <a:t>三個關鍵心得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32407" y="2377440"/>
            <a:ext cx="2926080" cy="22860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06727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55555"/>
                </a:solidFill>
                <a:latin typeface="Inter"/>
              </a:defRPr>
            </a:pPr>
            <a:r>
              <a:t>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6727" y="3108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AFAFA"/>
                </a:solidFill>
                <a:latin typeface="Inter"/>
              </a:defRPr>
            </a:pPr>
            <a:r>
              <a:t>Prompt 就是設計稿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6727" y="35661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88888"/>
                </a:solidFill>
                <a:latin typeface="Inter"/>
              </a:defRPr>
            </a:pPr>
            <a:r>
              <a:t>學會用精確的語言描述設計，比學工具更重要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2807" y="2377440"/>
            <a:ext cx="2926080" cy="22860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7127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55555"/>
                </a:solidFill>
                <a:latin typeface="Inter"/>
              </a:defRPr>
            </a:pPr>
            <a:r>
              <a:t>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07127" y="3108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AFAFA"/>
                </a:solidFill>
                <a:latin typeface="Inter"/>
              </a:defRPr>
            </a:pPr>
            <a:r>
              <a:t>迭代成本趨近於零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7127" y="35661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88888"/>
                </a:solidFill>
                <a:latin typeface="Inter"/>
              </a:defRPr>
            </a:pPr>
            <a:r>
              <a:t>AI 讓你可以大膽嘗試，每次修改只需幾秒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33207" y="2377440"/>
            <a:ext cx="2926080" cy="22860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07527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55555"/>
                </a:solidFill>
                <a:latin typeface="Inter"/>
              </a:defRPr>
            </a:pPr>
            <a:r>
              <a:t>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7527" y="3108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AFAFA"/>
                </a:solidFill>
                <a:latin typeface="Inter"/>
              </a:defRPr>
            </a:pPr>
            <a:r>
              <a:t>設計即開發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7527" y="35661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88888"/>
                </a:solidFill>
                <a:latin typeface="Inter"/>
              </a:defRPr>
            </a:pPr>
            <a:r>
              <a:t>消除交接，產出就是最終產品的一部分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365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JetBrains Mono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81447" y="2011680"/>
            <a:ext cx="1828800" cy="32004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888888"/>
                </a:solidFill>
                <a:latin typeface="JetBrains Mono"/>
              </a:defRPr>
            </a:pPr>
            <a:r>
              <a:t>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E0E0E0"/>
                </a:solidFill>
                <a:latin typeface="Inter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02336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888888"/>
                </a:solidFill>
                <a:latin typeface="Inter"/>
              </a:defRPr>
            </a:pPr>
            <a:r>
              <a:t>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730087" y="4663440"/>
            <a:ext cx="731520" cy="254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512064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555"/>
                </a:solidFill>
                <a:latin typeface="Inter"/>
              </a:defRPr>
            </a:pPr>
            <a:r>
              <a:t>YOUR NAME · @YOUR_HANDLE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365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JetBrains Mono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